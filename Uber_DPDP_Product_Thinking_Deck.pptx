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Arial"/>
              </a:rPr>
              <a:t>12-Week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Consent Coverage %</c:v>
                </c:pt>
              </c:strCache>
            </c:strRef>
          </c:tx>
          <c:spPr>
            <a:solidFill>
              <a:srgbClr val="0891B2"/>
            </a:solidFill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78</c:v>
                </c:pt>
                <c:pt idx="1">
                  <c:v>81</c:v>
                </c:pt>
                <c:pt idx="2">
                  <c:v>84</c:v>
                </c:pt>
                <c:pt idx="3">
                  <c:v>86</c:v>
                </c:pt>
                <c:pt idx="4">
                  <c:v>88</c:v>
                </c:pt>
                <c:pt idx="5">
                  <c:v>90</c:v>
                </c:pt>
                <c:pt idx="6">
                  <c:v>91</c:v>
                </c:pt>
                <c:pt idx="7">
                  <c:v>92</c:v>
                </c:pt>
                <c:pt idx="8">
                  <c:v>92.5</c:v>
                </c:pt>
                <c:pt idx="9">
                  <c:v>93</c:v>
                </c:pt>
                <c:pt idx="10">
                  <c:v>93.2</c:v>
                </c:pt>
                <c:pt idx="11">
                  <c:v>93.4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%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18–24</c:v>
                  </c:pt>
                  <c:pt idx="1">
                    <c:v>25–34</c:v>
                  </c:pt>
                  <c:pt idx="2">
                    <c:v>35–44</c:v>
                  </c:pt>
                  <c:pt idx="3">
                    <c:v>45+</c:v>
                  </c:pt>
                  <c:pt idx="4">
                    <c:v>Teen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95</c:v>
                </c:pt>
                <c:pt idx="2">
                  <c:v>94</c:v>
                </c:pt>
                <c:pt idx="3">
                  <c:v>89</c:v>
                </c:pt>
                <c:pt idx="4">
                  <c:v>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Metro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iOS</c:v>
                  </c:pt>
                  <c:pt idx="1">
                    <c:v>Android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Tier-2</c:v>
                </c:pt>
              </c:strCache>
            </c:strRef>
          </c:tx>
          <c:spPr>
            <a:solidFill>
              <a:srgbClr val="8FD3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iOS</c:v>
                  </c:pt>
                  <c:pt idx="1">
                    <c:v>Android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92</c:v>
                </c:pt>
                <c:pt idx="1">
                  <c:v>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4" Type="http://schemas.openxmlformats.org/officeDocument/2006/relationships/chart" Target="/ppt/charts/chart3.xml"/><Relationship Id="rId1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03327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THINKING DECK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3317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Uber's Data &amp; Consent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for India's DPDP Act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4251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Uber can turn a legal requirement into a trust advantage — without losing the one-tap, frictionless ride booking users love.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Privacy &amp; Trust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59984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601200" y="502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India · Rides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captures a blanket, one-time consent at signup — the same checkbox covers ride matching, marketing, ad-personalisation, and data sharing with insurance/analytics partners.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gap this deck fixes.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834640"/>
            <a:ext cx="502920" cy="50292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29653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47472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Trust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379476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can't see what's collected, can't tell essential from optional use, and have no easy way to say no to non-essential tracking.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28160" y="260604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56760" y="2834640"/>
            <a:ext cx="502920" cy="50292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519" y="296539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56760" y="347472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Risk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56760" y="379476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mandates purpose-specific, revocable consent. Penalties can reach ₹250 Cr per instance for significant non-compliance.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107680" y="260604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36280" y="2834640"/>
            <a:ext cx="502920" cy="50292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039" y="296539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36280" y="347472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Data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336280" y="379476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Family/Teen profiles let minors book rides with no verifiable parental consent and no ban on behavioural ads to minors.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50749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~40M monthly active riders in India (illustrative)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uses one bundled T&amp;C / privacy-policy checkbox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Trip, location &amp; payment data shared with drivers, payment gateway, optional-insurance and ad/analytics partners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Family/Teen profile feature exists and can be used by under-18 riders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India · Data &amp; Consent Redesign for DPDP Act, 2023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59984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3749040" cy="5029200"/>
          </a:xfrm>
          <a:prstGeom prst="roundRect">
            <a:avLst>
              <a:gd name="adj" fmla="val 2439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600200"/>
            <a:ext cx="822960" cy="8229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70" y="1814170"/>
            <a:ext cx="395021" cy="395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Priya, 29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77240" y="2971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analyst, Bengaluru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Uber 15–20x / month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724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PERSONA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7724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7240" y="431596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Commutes daily, shares live trip status with family for safety, occasionally books rides for her parents (60+) via her account.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77240" y="5257800"/>
            <a:ext cx="32004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5394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persona: a parent setting up a Teen/Family profile for a 15-year-old — same product, higher stakes.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today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72000" y="1691640"/>
            <a:ext cx="7040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00600" y="201168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4"/>
          <p:cNvSpPr/>
          <p:nvPr/>
        </p:nvSpPr>
        <p:spPr>
          <a:xfrm>
            <a:off x="5074920" y="1801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074920" y="210312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her trip history, precise location logs, or voice-call metadata are used for anything beyond her ride.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0" y="2788920"/>
            <a:ext cx="7040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00600" y="310896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18"/>
          <p:cNvSpPr/>
          <p:nvPr/>
        </p:nvSpPr>
        <p:spPr>
          <a:xfrm>
            <a:off x="5074920" y="2898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consent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074920" y="32004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T&amp;Cs years ago at signup — has never been asked again as new data uses were added.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72000" y="3886200"/>
            <a:ext cx="7040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800600" y="420624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2"/>
          <p:cNvSpPr/>
          <p:nvPr/>
        </p:nvSpPr>
        <p:spPr>
          <a:xfrm>
            <a:off x="5074920" y="3995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control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5074920" y="42976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turn off ad-personalisation or data sharing with the insurance partner without disabling the app.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572000" y="4983480"/>
            <a:ext cx="7040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800600" y="530352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6"/>
          <p:cNvSpPr/>
          <p:nvPr/>
        </p:nvSpPr>
        <p:spPr>
          <a:xfrm>
            <a:off x="5074920" y="5093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exit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5074920" y="53949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Account/data deletion means a support ticket and an unclear wait, not a self-serve action.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India · Data &amp; Consent Redesign for DPDP Act, 2023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59984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Experience — Where It Falls Short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3566160"/>
        </p:xfrm>
        <a:graphic>
          <a:graphicData uri="http://schemas.openxmlformats.org/drawingml/2006/table">
            <a:tbl>
              <a:tblPr/>
              <a:tblGrid>
                <a:gridCol w="2194560"/>
                <a:gridCol w="3383280"/>
                <a:gridCol w="3291840"/>
                <a:gridCol w="21945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touchpoint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Uber handles it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DPDP expectation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Signup consent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bundled checkbox for all purposes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Clear, itemised, purpose-specific notice &amp; consent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granular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Collected during trip; retention period not surfaced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Minimise &amp; disclose retention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visibility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sharing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with insurer/ad/analytics partners silently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needed per distinct 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sharing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Teen/Family profile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adds teen; no identity/age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Verifiable parental consent; no ad-tracking of minors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/ erasure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support ticket, unclear SLA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rights, timely 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self-serve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6F4F7"/>
          </a:solidFill>
          <a:ln/>
        </p:spPr>
      </p:sp>
      <p:sp>
        <p:nvSpPr>
          <p:cNvPr id="7" name="Shape 3"/>
          <p:cNvSpPr/>
          <p:nvPr/>
        </p:nvSpPr>
        <p:spPr>
          <a:xfrm>
            <a:off x="777240" y="5257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5388559"/>
            <a:ext cx="241402" cy="2414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17320" y="52120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friction/risk point: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blanket consent is used to justify ad-personalisation, insurance data sharing, and analytics — if any one of these is challenged, all three become legally shaky at once.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India · Data &amp; Consent Redesign for DPDP Act, 2023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59984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53312"/>
            <a:ext cx="548640" cy="5486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1495958"/>
            <a:ext cx="263347" cy="2633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280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consent at signup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029200" y="12801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toggle (locked ON — ride matching, safety) separated from optional toggles: marketing, ad-personalisation, insurance-partner sharing, analytics.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23134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2456078"/>
            <a:ext cx="263347" cy="26334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313432"/>
            <a:ext cx="548640" cy="548640"/>
          </a:xfrm>
          <a:prstGeom prst="ellipse">
            <a:avLst/>
          </a:prstGeom>
          <a:solidFill>
            <a:srgbClr val="E6F4F7"/>
          </a:solidFill>
          <a:ln/>
        </p:spPr>
      </p:sp>
      <p:sp>
        <p:nvSpPr>
          <p:cNvPr id="12" name="Text 7"/>
          <p:cNvSpPr/>
          <p:nvPr/>
        </p:nvSpPr>
        <p:spPr>
          <a:xfrm>
            <a:off x="1325880" y="2240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prompts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5029200" y="22402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fresh, specific consent ask the first time a sensitive feature is used — e.g. buying ride insurance triggers a one-tap insurer-sharing consent.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3273552"/>
            <a:ext cx="548640" cy="5486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3416198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32004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029200" y="32004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accounts require parent ID verification (reusing existing driver-KYC infra). Ads &amp; profiling default OFF for minors.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42336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4376318"/>
            <a:ext cx="263347" cy="263347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48640" y="4233672"/>
            <a:ext cx="548640" cy="548640"/>
          </a:xfrm>
          <a:prstGeom prst="ellipse">
            <a:avLst/>
          </a:prstGeom>
          <a:solidFill>
            <a:srgbClr val="E6F4F7"/>
          </a:solidFill>
          <a:ln/>
        </p:spPr>
      </p:sp>
      <p:sp>
        <p:nvSpPr>
          <p:cNvPr id="21" name="Text 14"/>
          <p:cNvSpPr/>
          <p:nvPr/>
        </p:nvSpPr>
        <p:spPr>
          <a:xfrm>
            <a:off x="1325880" y="41605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Privacy Center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5029200" y="41605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data collected, export it (DSAR), correct it, request erasure, and revoke any individual consent — all in one tap, no ticket.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548640" y="5193792"/>
            <a:ext cx="548640" cy="5486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" y="5336438"/>
            <a:ext cx="263347" cy="263347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25880" y="5120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 &amp; retention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5029200" y="51206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trip location auto-deleted after a 90-day support window; only anonymised/aggregated data kept for analytics beyond that.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India · Data &amp; Consent Redesign for DPDP Act, 2023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59984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This, Not the Alternatives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compliance bump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re-consent screen, nothing else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" y="2423160"/>
            <a:ext cx="1371600" cy="320040"/>
          </a:xfrm>
          <a:prstGeom prst="roundRect">
            <a:avLst>
              <a:gd name="adj" fmla="val 48571"/>
            </a:avLst>
          </a:prstGeom>
          <a:solidFill>
            <a:srgbClr val="B3261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29260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to build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fix trust — still feels like a wall of legal text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consent likely still invalid for non-essential purposes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28016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2628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opt-in, everything off by default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52628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safety features require explicit opt-in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26280" y="2423160"/>
            <a:ext cx="1371600" cy="320040"/>
          </a:xfrm>
          <a:prstGeom prst="roundRect">
            <a:avLst>
              <a:gd name="adj" fmla="val 48571"/>
            </a:avLst>
          </a:prstGeom>
          <a:solidFill>
            <a:srgbClr val="B3261E"/>
          </a:solidFill>
          <a:ln/>
        </p:spPr>
      </p:sp>
      <p:sp>
        <p:nvSpPr>
          <p:cNvPr id="15" name="Text 12"/>
          <p:cNvSpPr/>
          <p:nvPr/>
        </p:nvSpPr>
        <p:spPr>
          <a:xfrm>
            <a:off x="452628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26280" y="29260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Maximises user control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core ride-safety UX (e.g. live ETA sharing off by default)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conversion hit for no legal requirement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0" y="128016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27532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Granular, essential-on / optional-off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27532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choice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275320" y="2423160"/>
            <a:ext cx="1371600" cy="320040"/>
          </a:xfrm>
          <a:prstGeom prst="roundRect">
            <a:avLst>
              <a:gd name="adj" fmla="val 48571"/>
            </a:avLst>
          </a:prstGeom>
          <a:solidFill>
            <a:srgbClr val="1E8E5A"/>
          </a:solidFill>
          <a:ln/>
        </p:spPr>
      </p:sp>
      <p:sp>
        <p:nvSpPr>
          <p:cNvPr id="21" name="Text 18"/>
          <p:cNvSpPr/>
          <p:nvPr/>
        </p:nvSpPr>
        <p:spPr>
          <a:xfrm>
            <a:off x="827532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275320" y="29260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booking frictionless — safety data stays on by default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purpose-specific choice for everything non-essential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DPDP's allowance for necessary/legitimate use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India · Data &amp; Consent Redesign for DPDP Act, 2023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59984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&amp; Success Criteria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16459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of active users with valid, purpose-specific consent coverage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0" y="1508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≥ 95%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metrics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" y="3100730"/>
            <a:ext cx="153619" cy="1536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Consent-flow completion rate at signup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474720"/>
            <a:ext cx="320040" cy="3200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3557930"/>
            <a:ext cx="153619" cy="1536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MAU who visit Privacy Center in last 90 days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" y="4015130"/>
            <a:ext cx="153619" cy="1536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to fulfil access/erasure (DSAR) requests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4389120"/>
            <a:ext cx="320040" cy="3200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" y="4472330"/>
            <a:ext cx="153619" cy="15361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05840" y="4389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Teen accounts with verified parental consent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630936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309360" y="3017520"/>
            <a:ext cx="320040" cy="32004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2570" y="3100730"/>
            <a:ext cx="153619" cy="15361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6656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Ride-booking conversion rate (must not drop &gt;3%)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6309360" y="3474720"/>
            <a:ext cx="320040" cy="32004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2570" y="3557930"/>
            <a:ext cx="153619" cy="153619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766560" y="3474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Privacy/data-related support ticket volume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548640" y="5029200"/>
            <a:ext cx="1106424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54864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looks like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548640" y="546811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≥95% valid consent coverage within 60 days of launch  ·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DSAR median fulfilment &lt;72 hours (from ~2 weeks today)  ·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Teen accounts verified within 90 days  ·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Protection Board notices in first two quarters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India · Data &amp; Consent Redesign for DPDP Act, 2023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59984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Thinking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1887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 drops 15% three weeks after launch — no major release shipped.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tree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26289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3232" y="2487168"/>
            <a:ext cx="22997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3232" y="2816352"/>
            <a:ext cx="22997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records not syncing; premature expiry bug; logging undercount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60420" y="2377440"/>
            <a:ext cx="26289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25012" y="2487168"/>
            <a:ext cx="22997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friction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25012" y="2816352"/>
            <a:ext cx="22997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Re-consent prompts too frequent or confusing; users skip instead of complete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2377440"/>
            <a:ext cx="26289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36792" y="2487168"/>
            <a:ext cx="22997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/ external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36792" y="2816352"/>
            <a:ext cx="22997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of time-bound consents expired together; PR event drove declines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83980" y="2377440"/>
            <a:ext cx="26289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48572" y="2487168"/>
            <a:ext cx="22997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Segment-specific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8572" y="2816352"/>
            <a:ext cx="22997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New-market/language cohort can't complete flow; platform version regression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 analyse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4370832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funnel drop-off by step, platform &amp; app version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 by signup date, region, language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expired vs newly-declined vs never-set consents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&amp; app-store review sentiment spike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0936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&amp; next steps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09360" y="4370832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 first — cheapest, localises the step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funnel is clean, check backend expiry-job logs by date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backend is clean, isolate by platform/app version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 bugs; A/B test softer copy for UX friction; survey users on a genuine decline wave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India · Data &amp; Consent Redesign for DPDP Act, 2023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59984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Dashboard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418320" y="548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data, illustrative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3108960" cy="2103120"/>
          </a:xfrm>
          <a:prstGeom prst="roundRect">
            <a:avLst>
              <a:gd name="adj" fmla="val 4348"/>
            </a:avLst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KPI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Coverage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93.4%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77724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2.1 pts vs last 30 days</a:t>
            </a:r>
            <a:endParaRPr lang="en-US" sz="10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840480" y="1234440"/>
          <a:ext cx="77724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3520440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31520" y="3630168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Completion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31520" y="3950208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360420" y="3520440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543300" y="3630168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DSAR Median Time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543300" y="3950208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 hrs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172200" y="3520440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355080" y="3630168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Accounts Verified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355080" y="3950208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8983980" y="3520440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166860" y="3630168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Ticket Volume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9166860" y="3950208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412 / wk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— Consent Coverage by Age Band</a:t>
            </a:r>
            <a:endParaRPr lang="en-US" sz="1200" dirty="0"/>
          </a:p>
        </p:txBody>
      </p:sp>
      <p:graphicFrame>
        <p:nvGraphicFramePr>
          <p:cNvPr id="25" name="Chart 1" descr=""/>
          <p:cNvGraphicFramePr/>
          <p:nvPr/>
        </p:nvGraphicFramePr>
        <p:xfrm>
          <a:off x="548640" y="5074920"/>
          <a:ext cx="530352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Text 21"/>
          <p:cNvSpPr/>
          <p:nvPr/>
        </p:nvSpPr>
        <p:spPr>
          <a:xfrm>
            <a:off x="63093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— Coverage by Platform &amp; City Tier</a:t>
            </a:r>
            <a:endParaRPr lang="en-US" sz="1200" dirty="0"/>
          </a:p>
        </p:txBody>
      </p:sp>
      <p:graphicFrame>
        <p:nvGraphicFramePr>
          <p:cNvPr id="27" name="Chart 2" descr=""/>
          <p:cNvGraphicFramePr/>
          <p:nvPr/>
        </p:nvGraphicFramePr>
        <p:xfrm>
          <a:off x="6309360" y="5074920"/>
          <a:ext cx="530352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India · Data &amp; Consent Redesign for DPDP Act, 2023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E6F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59984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Plan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3505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37160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7240" y="16459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Dogfood + 5%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057400"/>
            <a:ext cx="304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team, then 5% of Bengaluru riders. Validate consent-flow completion &amp; funnel impact.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8160" y="1234440"/>
            <a:ext cx="3505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56760" y="137160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56760" y="16459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 national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56760" y="2057400"/>
            <a:ext cx="304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across metros + tier-2. Watch guardrail metrics daily; fix friction found in Phase 1.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07680" y="1234440"/>
            <a:ext cx="3505200" cy="196596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36280" y="137160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336280" y="16459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+ re-consent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36280" y="2057400"/>
            <a:ext cx="304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rollout. Staggered re-consent campaign for existing users, cohort by cohort, to avoid a support spike.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approach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3730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the new granular-consent </a:t>
            </a:r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(copy, screen order, timing) against the old bundled flow — measured on completion rate &amp; booking conversion.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DECEA"/>
          </a:solidFill>
          <a:ln/>
        </p:spPr>
      </p:sp>
      <p:sp>
        <p:nvSpPr>
          <p:cNvPr id="20" name="Shape 17"/>
          <p:cNvSpPr/>
          <p:nvPr/>
        </p:nvSpPr>
        <p:spPr>
          <a:xfrm>
            <a:off x="777240" y="459028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709160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417320" y="452628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is A/B-testable.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 show a legally-required notice, or whether to require verifiable parental consent for Teen accounts, is not a test — it applies to 100% of users from day one. A/B testing is scoped only to UX variations of already-compliant flows (copy, layout, timing), never to whether compliance itself is shown.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India · Data &amp; Consent Redesign for DPDP Act, 2023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59984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Trade-offs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24303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consent-management backend, versioned records, and real-time enforcement across microservices — non-trivial build.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24303B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2240" y="19202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consent steps risk a conversion dip; opt-outs reduce ad revenue; optional-insurance attach rate may fall.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24303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impact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2960" y="3749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friction at signup / first feature use, especially for older or low-literacy users — mitigated with plain language &amp; regional languages.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2004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24303B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92240" y="3749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decline optional consent still need full ride functionality; erasure requests must respect active fraud/legal holds and RBI/tax record-keeping rules.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accepted: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higher engineering cost and a small conversion risk over a cheap notice-only fix — because it protects user trust and reduces legal exposure, while keeping essential safety data on by default to preserve the core booking experience.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India · Data &amp; Consent Redesign for DPDP Act, 2023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India — DPDP-Aligned Data &amp; Consent Experience</dc:title>
  <dc:subject>PptxGenJS Presentation</dc:subject>
  <dc:creator>Product Thinking Deck</dc:creator>
  <cp:lastModifiedBy>Product Thinking Deck</cp:lastModifiedBy>
  <cp:revision>1</cp:revision>
  <dcterms:created xsi:type="dcterms:W3CDTF">2026-07-02T18:14:42Z</dcterms:created>
  <dcterms:modified xsi:type="dcterms:W3CDTF">2026-07-02T18:14:42Z</dcterms:modified>
</cp:coreProperties>
</file>